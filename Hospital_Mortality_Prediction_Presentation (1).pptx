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20" Type="http://schemas.openxmlformats.org/officeDocument/2006/relationships/slide" Target="slides/slide14.xml"/><Relationship Id="rId21" Type="http://schemas.openxmlformats.org/officeDocument/2006/relationships/slide" Target="slides/slide15.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Hospital Mortality Prediction using Supervised Learning Algorithms</a:t>
            </a:r>
          </a:p>
        </p:txBody>
      </p:sp>
      <p:sp>
        <p:nvSpPr>
          <p:cNvPr id="3" name="Content Placeholder 2"/>
          <p:cNvSpPr>
            <a:spLocks noGrp="1"/>
          </p:cNvSpPr>
          <p:nvPr>
            <p:ph idx="1"/>
          </p:nvPr>
        </p:nvSpPr>
        <p:spPr/>
        <p:txBody>
          <a:bodyPr/>
          <a:lstStyle/>
          <a:p>
            <a:r>
              <a:t>MSc Data Science, AI &amp; Digital Business</a:t>
            </a:r>
          </a:p>
          <a:p>
            <a:r>
              <a:t>Presented by: Bondili Kaushal Balram Singh</a:t>
            </a:r>
          </a:p>
          <a:p>
            <a:r>
              <a:t>Supervisor: Prof. Dr. William Morrison</a:t>
            </a:r>
          </a:p>
          <a:p>
            <a:r>
              <a:t>GISMA University of Applied Sciences, Potsdam</a:t>
            </a:r>
          </a:p>
          <a:p>
            <a:r>
              <a:t>June 4,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Abstract</a:t>
            </a:r>
          </a:p>
        </p:txBody>
      </p:sp>
      <p:sp>
        <p:nvSpPr>
          <p:cNvPr id="3" name="Content Placeholder 2"/>
          <p:cNvSpPr>
            <a:spLocks noGrp="1"/>
          </p:cNvSpPr>
          <p:nvPr>
            <p:ph idx="1"/>
          </p:nvPr>
        </p:nvSpPr>
        <p:spPr/>
        <p:txBody>
          <a:bodyPr/>
          <a:lstStyle/>
          <a:p>
            <a:r>
              <a:t>Predicting hospital mortality, particularly in ICU settings, is critical for effective healthcare delivery. This research utilizes supervised learning algorithms to develop predictive models using real hospital data. Among various classifiers tested, Logistic Regression emerged as the top-performing model with 86% accuracy. The study highlights the potential of ML in guiding clinical decisions and improving outcomes.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Hospital mortality prediction is crucial in assessing the risk of death for ICU patients. Traditional methods lack precision and adaptability to dynamic clinical conditions. Machine Learning (ML) provides a more accurate, data-driven approach to forecast patient outcomes, enabling timely interventions and optimized resource allocation.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Statement &amp; Aim</a:t>
            </a:r>
          </a:p>
        </p:txBody>
      </p:sp>
      <p:sp>
        <p:nvSpPr>
          <p:cNvPr id="3" name="Content Placeholder 2"/>
          <p:cNvSpPr>
            <a:spLocks noGrp="1"/>
          </p:cNvSpPr>
          <p:nvPr>
            <p:ph idx="1"/>
          </p:nvPr>
        </p:nvSpPr>
        <p:spPr/>
        <p:txBody>
          <a:bodyPr/>
          <a:lstStyle/>
          <a:p>
            <a:r>
              <a:t>Problem: Traditional models lack real-time adaptability and accuracy.</a:t>
            </a:r>
          </a:p>
          <a:p>
            <a:r>
              <a:t>Aim: To develop and validate supervised learning models, specifically linear and kernel classifiers, that can accurately predict hospital mortality among ICU patients with heart failure using patient demographics and clinical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Research Questions &amp; Objectives</a:t>
            </a:r>
          </a:p>
        </p:txBody>
      </p:sp>
      <p:sp>
        <p:nvSpPr>
          <p:cNvPr id="3" name="Content Placeholder 2"/>
          <p:cNvSpPr>
            <a:spLocks noGrp="1"/>
          </p:cNvSpPr>
          <p:nvPr>
            <p:ph idx="1"/>
          </p:nvPr>
        </p:nvSpPr>
        <p:spPr/>
        <p:txBody>
          <a:bodyPr/>
          <a:lstStyle/>
          <a:p>
            <a:r>
              <a:t>Research Questions:</a:t>
            </a:r>
          </a:p>
          <a:p>
            <a:r>
              <a:t>1. Which classifier (linear or kernel) performs best?</a:t>
            </a:r>
          </a:p>
          <a:p>
            <a:r>
              <a:t>2. Which kernel classifier is most effective and why?</a:t>
            </a:r>
          </a:p>
          <a:p>
            <a:r>
              <a:t>3. Which linear method most impacts ICU mortality prediction?</a:t>
            </a:r>
          </a:p>
          <a:p>
            <a:r>
              <a:t>Objectives:</a:t>
            </a:r>
          </a:p>
          <a:p>
            <a:r>
              <a:t>- Evaluate performance of LR, SVC, Perceptron, etc.</a:t>
            </a:r>
          </a:p>
          <a:p>
            <a:r>
              <a:t>- Apply SMOTE to balance data</a:t>
            </a:r>
          </a:p>
          <a:p>
            <a:r>
              <a:t>- Compare metrics like accuracy, F1-score, AUC.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Literature Review</a:t>
            </a:r>
          </a:p>
        </p:txBody>
      </p:sp>
      <p:sp>
        <p:nvSpPr>
          <p:cNvPr id="3" name="Content Placeholder 2"/>
          <p:cNvSpPr>
            <a:spLocks noGrp="1"/>
          </p:cNvSpPr>
          <p:nvPr>
            <p:ph idx="1"/>
          </p:nvPr>
        </p:nvSpPr>
        <p:spPr/>
        <p:txBody>
          <a:bodyPr/>
          <a:lstStyle/>
          <a:p>
            <a:r>
              <a:t>Numerous studies have applied ML in predicting ICU mortality. Models like Random Forest, Gradient Boosting, and Logistic Regression showed promise. However, a gap remains in comparative analysis of linear vs kernel classifiers. This research addresses that by applying both on ICU heart failure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Methodology Overview</a:t>
            </a:r>
          </a:p>
        </p:txBody>
      </p:sp>
      <p:sp>
        <p:nvSpPr>
          <p:cNvPr id="3" name="Content Placeholder 2"/>
          <p:cNvSpPr>
            <a:spLocks noGrp="1"/>
          </p:cNvSpPr>
          <p:nvPr>
            <p:ph idx="1"/>
          </p:nvPr>
        </p:nvSpPr>
        <p:spPr/>
        <p:txBody>
          <a:bodyPr/>
          <a:lstStyle/>
          <a:p>
            <a:r>
              <a:t>Dataset: 1177 records, 51 features from ICU patients.</a:t>
            </a:r>
          </a:p>
          <a:p>
            <a:r>
              <a:t>Process: Data cleaning → Feature Selection → SMOTE Oversampling → Model Building → Evaluation</a:t>
            </a:r>
          </a:p>
          <a:p>
            <a:r>
              <a:t>Tools: Python, Scikit-learn</a:t>
            </a:r>
          </a:p>
          <a:p>
            <a:r>
              <a:t>Models: LR, Perceptron, SVC variants including linear, RBF, poly, sigmoid.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Preprocessing</a:t>
            </a:r>
          </a:p>
        </p:txBody>
      </p:sp>
      <p:sp>
        <p:nvSpPr>
          <p:cNvPr id="3" name="Content Placeholder 2"/>
          <p:cNvSpPr>
            <a:spLocks noGrp="1"/>
          </p:cNvSpPr>
          <p:nvPr>
            <p:ph idx="1"/>
          </p:nvPr>
        </p:nvSpPr>
        <p:spPr/>
        <p:txBody>
          <a:bodyPr/>
          <a:lstStyle/>
          <a:p>
            <a:r>
              <a:t>Steps taken:</a:t>
            </a:r>
          </a:p>
          <a:p>
            <a:r>
              <a:t>- Removed null and duplicate values</a:t>
            </a:r>
          </a:p>
          <a:p>
            <a:r>
              <a:t>- Applied SMOTE to balance the dataset (original: 1017 survivors, 159 deaths)</a:t>
            </a:r>
          </a:p>
          <a:p>
            <a:r>
              <a:t>- Performed Exploratory Data Analysis (EDA) to understand variable distributions</a:t>
            </a:r>
          </a:p>
          <a:p>
            <a:r>
              <a:t>- Split dataset into 70% training and 30% testing.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Linear Classifiers</a:t>
            </a:r>
          </a:p>
        </p:txBody>
      </p:sp>
      <p:sp>
        <p:nvSpPr>
          <p:cNvPr id="3" name="Content Placeholder 2"/>
          <p:cNvSpPr>
            <a:spLocks noGrp="1"/>
          </p:cNvSpPr>
          <p:nvPr>
            <p:ph idx="1"/>
          </p:nvPr>
        </p:nvSpPr>
        <p:spPr/>
        <p:txBody>
          <a:bodyPr/>
          <a:lstStyle/>
          <a:p>
            <a:r>
              <a:t>Linear classifiers include:</a:t>
            </a:r>
          </a:p>
          <a:p>
            <a:r>
              <a:t>- Logistic Regression (best performer: 86% accuracy, AUC 0.861)</a:t>
            </a:r>
          </a:p>
          <a:p>
            <a:r>
              <a:t>- Linear SVC (66% accuracy)</a:t>
            </a:r>
          </a:p>
          <a:p>
            <a:r>
              <a:t>- Perceptron (67% accuracy)</a:t>
            </a:r>
          </a:p>
          <a:p>
            <a:r>
              <a:t>Each model was optimized using hyperparameter tuning techniques such as grid/random search.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Kernel Classifiers</a:t>
            </a:r>
          </a:p>
        </p:txBody>
      </p:sp>
      <p:sp>
        <p:nvSpPr>
          <p:cNvPr id="3" name="Content Placeholder 2"/>
          <p:cNvSpPr>
            <a:spLocks noGrp="1"/>
          </p:cNvSpPr>
          <p:nvPr>
            <p:ph idx="1"/>
          </p:nvPr>
        </p:nvSpPr>
        <p:spPr/>
        <p:txBody>
          <a:bodyPr/>
          <a:lstStyle/>
          <a:p>
            <a:r>
              <a:t>Kernel classifiers include:</a:t>
            </a:r>
          </a:p>
          <a:p>
            <a:r>
              <a:t>- SVC, Nu-SVC</a:t>
            </a:r>
          </a:p>
          <a:p>
            <a:r>
              <a:t>- Linear, Poly, RBF, and Sigmoid Kernels</a:t>
            </a:r>
          </a:p>
          <a:p>
            <a:r>
              <a:t>Best performer: Poly Kernel SVC (80% accuracy, AUC 0.7986)</a:t>
            </a:r>
          </a:p>
          <a:p>
            <a:r>
              <a:t>Other kernel models struggled with precision or overfitting, notably RBF and Sigmoid.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Evaluation Metrics</a:t>
            </a:r>
          </a:p>
        </p:txBody>
      </p:sp>
      <p:sp>
        <p:nvSpPr>
          <p:cNvPr id="3" name="Content Placeholder 2"/>
          <p:cNvSpPr>
            <a:spLocks noGrp="1"/>
          </p:cNvSpPr>
          <p:nvPr>
            <p:ph idx="1"/>
          </p:nvPr>
        </p:nvSpPr>
        <p:spPr/>
        <p:txBody>
          <a:bodyPr/>
          <a:lstStyle/>
          <a:p>
            <a:r>
              <a:t>Metrics used:</a:t>
            </a:r>
          </a:p>
          <a:p>
            <a:r>
              <a:t>- Accuracy: Correct predictions overall</a:t>
            </a:r>
          </a:p>
          <a:p>
            <a:r>
              <a:t>- Precision: True positives among predicted positives</a:t>
            </a:r>
          </a:p>
          <a:p>
            <a:r>
              <a:t>- Recall: True positives among actual positives</a:t>
            </a:r>
          </a:p>
          <a:p>
            <a:r>
              <a:t>- F1 Score: Harmonic mean of precision and recall</a:t>
            </a:r>
          </a:p>
          <a:p>
            <a:r>
              <a:t>- AUC Score: Measures model’s ability to distinguish classes</a:t>
            </a:r>
          </a:p>
          <a:p>
            <a:r>
              <a:t>- Confusion Matrix and ROC curves for visualization.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Summary</a:t>
            </a:r>
          </a:p>
        </p:txBody>
      </p:sp>
      <p:sp>
        <p:nvSpPr>
          <p:cNvPr id="3" name="Content Placeholder 2"/>
          <p:cNvSpPr>
            <a:spLocks noGrp="1"/>
          </p:cNvSpPr>
          <p:nvPr>
            <p:ph idx="1"/>
          </p:nvPr>
        </p:nvSpPr>
        <p:spPr/>
        <p:txBody>
          <a:bodyPr/>
          <a:lstStyle/>
          <a:p>
            <a:r>
              <a:t>Top Classifiers:</a:t>
            </a:r>
          </a:p>
          <a:p>
            <a:r>
              <a:t>- Logistic Regression (86% accuracy, AUC 0.861)</a:t>
            </a:r>
          </a:p>
          <a:p>
            <a:r>
              <a:t>- Poly Kernel SVC (80% accuracy, AUC 0.7986)</a:t>
            </a:r>
          </a:p>
          <a:p>
            <a:r>
              <a:t>Poor Performers:</a:t>
            </a:r>
          </a:p>
          <a:p>
            <a:r>
              <a:t>- SGD (47% accuracy)</a:t>
            </a:r>
          </a:p>
          <a:p>
            <a:r>
              <a:t>- RBF &amp; Sigmoid Kernel SVC (AUC ~ 0.5)</a:t>
            </a:r>
          </a:p>
          <a:p>
            <a:r>
              <a:t>Linear models generally outperformed kernels in this dataset.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Research Questions Addressed</a:t>
            </a:r>
          </a:p>
        </p:txBody>
      </p:sp>
      <p:sp>
        <p:nvSpPr>
          <p:cNvPr id="3" name="Content Placeholder 2"/>
          <p:cNvSpPr>
            <a:spLocks noGrp="1"/>
          </p:cNvSpPr>
          <p:nvPr>
            <p:ph idx="1"/>
          </p:nvPr>
        </p:nvSpPr>
        <p:spPr/>
        <p:txBody>
          <a:bodyPr/>
          <a:lstStyle/>
          <a:p>
            <a:r>
              <a:t>1. Best classifier: Logistic Regression outperformed all models.</a:t>
            </a:r>
          </a:p>
          <a:p>
            <a:r>
              <a:t>2. Best kernel: Poly Kernel SVC due to its ability to capture nonlinear patterns.</a:t>
            </a:r>
          </a:p>
          <a:p>
            <a:r>
              <a:t>3. Most impactful linear method: Logistic Regression due to its robustness and simplicity in binary classification tasks.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&amp; Critical Evaluation</a:t>
            </a:r>
          </a:p>
        </p:txBody>
      </p:sp>
      <p:sp>
        <p:nvSpPr>
          <p:cNvPr id="3" name="Content Placeholder 2"/>
          <p:cNvSpPr>
            <a:spLocks noGrp="1"/>
          </p:cNvSpPr>
          <p:nvPr>
            <p:ph idx="1"/>
          </p:nvPr>
        </p:nvSpPr>
        <p:spPr/>
        <p:txBody>
          <a:bodyPr/>
          <a:lstStyle/>
          <a:p>
            <a:r>
              <a:t>ML models, especially linear classifiers, show strong potential in mortality prediction. Logistic Regression proved both reliable and interpretable. Poly Kernel SVC also showed promise. However, issues such as data imbalance, hyperparameter tuning, and overfitting in some models remain challenges.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Work &amp; Ethical Considerations</a:t>
            </a:r>
          </a:p>
        </p:txBody>
      </p:sp>
      <p:sp>
        <p:nvSpPr>
          <p:cNvPr id="3" name="Content Placeholder 2"/>
          <p:cNvSpPr>
            <a:spLocks noGrp="1"/>
          </p:cNvSpPr>
          <p:nvPr>
            <p:ph idx="1"/>
          </p:nvPr>
        </p:nvSpPr>
        <p:spPr/>
        <p:txBody>
          <a:bodyPr/>
          <a:lstStyle/>
          <a:p>
            <a:r>
              <a:t>Future Work:</a:t>
            </a:r>
          </a:p>
          <a:p>
            <a:r>
              <a:t>- Test deep learning and ensemble models</a:t>
            </a:r>
          </a:p>
          <a:p>
            <a:r>
              <a:t>- Include real-time clinical updates</a:t>
            </a:r>
          </a:p>
          <a:p>
            <a:r>
              <a:t>Ethical Considerations:</a:t>
            </a:r>
          </a:p>
          <a:p>
            <a:r>
              <a:t>- Ensure data privacy (GDPR, CCA)</a:t>
            </a:r>
          </a:p>
          <a:p>
            <a:r>
              <a:t>- Avoid algorithmic bias</a:t>
            </a:r>
          </a:p>
          <a:p>
            <a:r>
              <a:t>- Ensure transparency and fairness in predictions</a:t>
            </a:r>
          </a:p>
          <a:p>
            <a:r>
              <a:t>These models should support—not replace—clinical judgment.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